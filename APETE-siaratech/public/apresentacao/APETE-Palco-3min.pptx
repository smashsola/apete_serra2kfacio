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c35fc528cd4b93" /><Relationship Type="http://schemas.openxmlformats.org/officeDocument/2006/relationships/extended-properties" Target="/docProps/app.xml" Id="R5234c0876fa24b7b" /><Relationship Type="http://schemas.openxmlformats.org/officeDocument/2006/relationships/officeDocument" Target="/ppt/presentation.xml" Id="R51d99a10712749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d07ff59b924404"/>
  </p:sldMasterIdLst>
  <p:notesMasterIdLst>
    <p:notesMasterId xmlns:r="http://schemas.openxmlformats.org/officeDocument/2006/relationships" r:id="R10ef0b09310649dc"/>
  </p:notesMasterIdLst>
  <p:sldIdLst>
    <p:sldId xmlns:r="http://schemas.openxmlformats.org/officeDocument/2006/relationships" id="256" r:id="Rf4893db7841240ec"/>
    <p:sldId xmlns:r="http://schemas.openxmlformats.org/officeDocument/2006/relationships" id="257" r:id="Re16c0faf39cb4aa1"/>
    <p:sldId xmlns:r="http://schemas.openxmlformats.org/officeDocument/2006/relationships" id="258" r:id="Rf5c5fa22b9d6470f"/>
    <p:sldId xmlns:r="http://schemas.openxmlformats.org/officeDocument/2006/relationships" id="259" r:id="R74679bf24cd9421a"/>
    <p:sldId xmlns:r="http://schemas.openxmlformats.org/officeDocument/2006/relationships" id="260" r:id="R2eb2346b301e42f3"/>
    <p:sldId xmlns:r="http://schemas.openxmlformats.org/officeDocument/2006/relationships" id="261" r:id="R9bbc24b2efb84a67"/>
    <p:sldId xmlns:r="http://schemas.openxmlformats.org/officeDocument/2006/relationships" id="262" r:id="Rcf1987fea4bd41cc"/>
    <p:sldId xmlns:r="http://schemas.openxmlformats.org/officeDocument/2006/relationships" id="263" r:id="Rebcdad13049746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5c446f2194b8f" /><Relationship Type="http://schemas.openxmlformats.org/officeDocument/2006/relationships/slideMaster" Target="/ppt/slideMasters/slideMaster1.xml" Id="R64d07ff59b924404" /><Relationship Type="http://schemas.openxmlformats.org/officeDocument/2006/relationships/notesMaster" Target="/ppt/notesMasters/notesMaster1.xml" Id="R10ef0b09310649dc" /><Relationship Type="http://schemas.openxmlformats.org/officeDocument/2006/relationships/presProps" Target="/ppt/presProps.xml" Id="R364fdf27c4ea45d6" /><Relationship Type="http://schemas.openxmlformats.org/officeDocument/2006/relationships/tableStyles" Target="/ppt/tableStyles.xml" Id="R67a71e156ce44954" /><Relationship Type="http://schemas.openxmlformats.org/officeDocument/2006/relationships/slide" Target="/ppt/slides/slide1.xml" Id="Rf4893db7841240ec" /><Relationship Type="http://schemas.openxmlformats.org/officeDocument/2006/relationships/slide" Target="/ppt/slides/slide2.xml" Id="Re16c0faf39cb4aa1" /><Relationship Type="http://schemas.openxmlformats.org/officeDocument/2006/relationships/slide" Target="/ppt/slides/slide3.xml" Id="Rf5c5fa22b9d6470f" /><Relationship Type="http://schemas.openxmlformats.org/officeDocument/2006/relationships/slide" Target="/ppt/slides/slide4.xml" Id="R74679bf24cd9421a" /><Relationship Type="http://schemas.openxmlformats.org/officeDocument/2006/relationships/slide" Target="/ppt/slides/slide5.xml" Id="R2eb2346b301e42f3" /><Relationship Type="http://schemas.openxmlformats.org/officeDocument/2006/relationships/slide" Target="/ppt/slides/slide6.xml" Id="R9bbc24b2efb84a67" /><Relationship Type="http://schemas.openxmlformats.org/officeDocument/2006/relationships/slide" Target="/ppt/slides/slide7.xml" Id="Rcf1987fea4bd41cc" /><Relationship Type="http://schemas.openxmlformats.org/officeDocument/2006/relationships/slide" Target="/ppt/slides/slide8.xml" Id="Rebcdad130497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67a72c27e7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de5842f6d4098" /><Relationship Type="http://schemas.openxmlformats.org/officeDocument/2006/relationships/notesMaster" Target="/ppt/notesMasters/notesMaster1.xml" Id="Re16e29074d8740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05d38703304a3d" /><Relationship Type="http://schemas.openxmlformats.org/officeDocument/2006/relationships/notesMaster" Target="/ppt/notesMasters/notesMaster1.xml" Id="R1df961849d9949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c25b403c7428b" /><Relationship Type="http://schemas.openxmlformats.org/officeDocument/2006/relationships/notesMaster" Target="/ppt/notesMasters/notesMaster1.xml" Id="R3349dcd6656c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66ba586d7f4744" /><Relationship Type="http://schemas.openxmlformats.org/officeDocument/2006/relationships/notesMaster" Target="/ppt/notesMasters/notesMaster1.xml" Id="R7b589baf15bf48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2760f20f2f4752" /><Relationship Type="http://schemas.openxmlformats.org/officeDocument/2006/relationships/notesMaster" Target="/ppt/notesMasters/notesMaster1.xml" Id="R4a85055716ad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7b914c0fe4472b" /><Relationship Type="http://schemas.openxmlformats.org/officeDocument/2006/relationships/notesMaster" Target="/ppt/notesMasters/notesMaster1.xml" Id="Ra5c48997ce6140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51a06837b4445" /><Relationship Type="http://schemas.openxmlformats.org/officeDocument/2006/relationships/notesMaster" Target="/ppt/notesMasters/notesMaster1.xml" Id="Rff240fca0d784d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915aacba3b4fc0" /><Relationship Type="http://schemas.openxmlformats.org/officeDocument/2006/relationships/notesMaster" Target="/ppt/notesMasters/notesMaster1.xml" Id="R50eec6825b13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s — Paulo. Gancho e problema. Conte uma situação real da região: uma loja ou pessoa que vende comida perto de casa e pouca gente conhece. Não transforme observação pessoal em pesquisa comprovada. Foto ilustrativa do catálogo APETÊ: assets/images/photo-product-1-v2.webp.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s — Max. Dados dimensionam a região, não demonstram demanda pelo app. 1.530 estabelecimentos com situação cadastral ativa e atividade principal CNAE divisão 56. Soma: Carnaubal 45, Croatá 59, Guaraciaba do Norte 165, Ibiapina 111, Ipu 167, São Benedito 225, Tianguá 439, Ubajara 147, Viçosa do Ceará 172. Grupos 561 e 562 somam 1.289 e 241. Não inclui toda fabricação ou comércio de alimentos, nem negócios sem CNPJ. Fonte Receita Federal via Observatório Sebrae, consulta 03/10/2026, base disponível até agosto 2026: https://apiv2-observatorio.sebrae.com.br/tesseract/data.jsonrecords?Municipality=2303402,2304236,2305001,2305308,2305803,2312304,2313401,2313609,2314102&amp;Registration+Status=2&amp;cube=RF&amp;drilldowns=Municipality,Group&amp;measures=Establishments&amp;Division=I56 . O perfil regional do Sebrae inclui 14 municípios e chega a 1.765: https://observatorio.sebrae.com.br/profile/geo/serra-da-ibiapaba-ce . População 380.563 é estimativa 2024 para os nove municípios: https://www.ipece.ce.gov.br/wp-content/uploads/sites/45/2025/07/Panorama_Socioeconomico_das_Regioes_de_Planejamento_do_Ceara_Serra_da_Ibiapaba_N07_2025.pdf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s — Paulo. Inclua quem vende salgados e refeições por conta própria, vendedores individuais e produtores no público que queremos alcançar. Casa ou pequeno estabelecimento não define informalidade: um MEI com atividade principal na divisão 56 pode já entrar nos 1.530. Não sabemos quantos vendedores informais existem nesses nove municípios, então não somamos uma estimativa inventada. A proposta precisa respeitar as exigências aplicáveis a cada atividade. Foto ilustrativa do catálogo APETÊ: assets/images/photo-product-28-v2.webp.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 — Max. Solução. Explique que o APETÊ reúne as opções por cidade, permite consultar o catálogo e fazer pedidos. Compare com procurar contatos e cardápios em conversas e publicações separadas. Não afirme cobertura inferior do iFood em toda a Serra sem levantamento. A tela contém lojas e produtos demonstrativos. Captura real de 03/10/2026: https://apete-serra2kfacio.betaniaaa.workers.dev/#cardapio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s — Paulo. A Sabiá usa o catálogo para sugerir produtos conforme a cidade e o orçamento. No teste real de 03/10/2026, em Ipu, o pedido de almoço até R$ 40 recebeu opções. O frete mostrado é inicial; o total depende da distância confirmada com a loja. Não prometa que toda sugestão já tem entrega final dentro do orçamento. Captura do protótipo: https://apete-serra2kfacio.betaniaaa.workers.dev/#sabia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s — Max. A Última Fornada permite oferecer produtos com desconto enquanto têm prazo e estoque válidos. A loja informa as condições de conservação e consumo. Redução de desperdício é objetivo, não resultado medido. No teste de 03/10/2026 não havia ofertas válidas na região: não mostre uma promoção vencida como prova. Foto ilustrativa do catálogo: assets/images/photo-product-26-v2.webp. Protótipo: https://apete-serra2kfacio.betaniaaa.workers.dev/#fornada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s — Paulo. Prova e diferença. O protótipo tem 30 estabelecimentos fictícios e 153 produtos demonstrativos; a captura da Sabiá mostra um teste funcional, não adesão do público. A comparação com buscas dispersas explica a proposta. Precisamos conversar com comerciantes e moradores, observar testes e registrar resultados. Não diga que já houve parceiros, clientes, vendas ou aumento de renda sem comprovação. Fonte do protótipo: https://apete-serra2kfacio.betaniaaa.workers.dev/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 — Max apresenta a equipe e Paulo fecha. Fale do impacto desejado de facilitar a descoberta e dar visibilidade aos pequenos negócios locais. Ainda não medimos aumento de renda. Convide a banca para conhecer o protótipo. QR: https://apete-serra2kfacio.betaniaaa.workers.dev/ . Total: 180 segundos. Ordem: problema, dados, público, solução, Sabiá, Última Fornada, prova e diferença, impacto/equipe/final.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2df79398b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4eebbfa2b34f4a" /><Relationship Type="http://schemas.openxmlformats.org/officeDocument/2006/relationships/slideLayout" Target="/ppt/slideLayouts/slideLayout1.xml" Id="Rcaa50839dfd648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50839dfd648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58877f13c49fa" /><Relationship Type="http://schemas.openxmlformats.org/officeDocument/2006/relationships/image" Target="/ppt/media/image.png" Id="Rb80e4b47872c445c" /><Relationship Type="http://schemas.openxmlformats.org/officeDocument/2006/relationships/notesSlide" Target="/ppt/notesSlides/notesSlide1.xml" Id="Ra01672087d2e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c119ad6484373" /><Relationship Type="http://schemas.openxmlformats.org/officeDocument/2006/relationships/notesSlide" Target="/ppt/notesSlides/notesSlide2.xml" Id="R6692f38ff5a9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a8654133d476a" /><Relationship Type="http://schemas.openxmlformats.org/officeDocument/2006/relationships/image" Target="/ppt/media/image2.png" Id="Rb0dfdf619abd4ceb" /><Relationship Type="http://schemas.openxmlformats.org/officeDocument/2006/relationships/notesSlide" Target="/ppt/notesSlides/notesSlide3.xml" Id="Rad6f6815007d4c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7941ba51d48fa" /><Relationship Type="http://schemas.openxmlformats.org/officeDocument/2006/relationships/image" Target="/ppt/media/image.jpeg" Id="R975fd41c7215459e" /><Relationship Type="http://schemas.openxmlformats.org/officeDocument/2006/relationships/notesSlide" Target="/ppt/notesSlides/notesSlide4.xml" Id="R8f531d4d0e2d4c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0981fbd4b414c" /><Relationship Type="http://schemas.openxmlformats.org/officeDocument/2006/relationships/image" Target="/ppt/media/image3.png" Id="Rbad007f4b18a4e09" /><Relationship Type="http://schemas.openxmlformats.org/officeDocument/2006/relationships/notesSlide" Target="/ppt/notesSlides/notesSlide5.xml" Id="R53705639acd747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ad2e4264a4d37" /><Relationship Type="http://schemas.openxmlformats.org/officeDocument/2006/relationships/image" Target="/ppt/media/image4.png" Id="Rf5999d32830a4753" /><Relationship Type="http://schemas.openxmlformats.org/officeDocument/2006/relationships/notesSlide" Target="/ppt/notesSlides/notesSlide6.xml" Id="R7eb289d0013c49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450f8611c4ced" /><Relationship Type="http://schemas.openxmlformats.org/officeDocument/2006/relationships/notesSlide" Target="/ppt/notesSlides/notesSlide7.xml" Id="Rc7b2d8cacff240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6a8566ebc4291" /><Relationship Type="http://schemas.openxmlformats.org/officeDocument/2006/relationships/image" Target="/ppt/media/image5.png" Id="R1c0ee311aa464cc1" /><Relationship Type="http://schemas.openxmlformats.org/officeDocument/2006/relationships/notesSlide" Target="/ppt/notesSlides/notesSlide8.xml" Id="R468f9cabdd9849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3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70203-FA0E-4EAA-A1F6-FA6F14B9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AC35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5F7CE-9831-4D08-991E-47AECD7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7A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C7A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e4b47872c445c"/>
          <a:srcRect xmlns:a="http://schemas.openxmlformats.org/drawingml/2006/main" l="8179" t="0" r="8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204C5-6400-43C7-A6AE-63EFA814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Tem comida boa</a:t>
            </a:r>
          </a:p>
          <a:p xmlns:a="http://schemas.openxmlformats.org/drawingml/2006/main">
            <a:pPr>
              <a:defRPr sz="4725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perto de você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4526F-6CBD-41A7-9B63-49F8A7A6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EAC35D"/>
                </a:solidFill>
                <a:latin typeface="Arial"/>
                <a:ea typeface="Arial"/>
                <a:cs typeface="Arial"/>
              </a:rPr>
              <a:t>Mas você sabe</a:t>
            </a:r>
          </a:p>
          <a:p xmlns:a="http://schemas.openxmlformats.org/drawingml/2006/main">
            <a:pPr>
              <a:defRPr sz="3375" b="0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EAC35D"/>
                </a:solidFill>
                <a:latin typeface="Arial"/>
                <a:ea typeface="Arial"/>
                <a:cs typeface="Arial"/>
              </a:rPr>
              <a:t>onde encontrar?</a:t>
            </a:r>
          </a:p>
        </p:txBody>
      </p:sp>
    </p:spTree>
    <p:extLst>
      <p:ext uri="{BB962C8B-B14F-4D97-AF65-F5344CB8AC3E}">
        <p14:creationId xmlns:p14="http://schemas.microsoft.com/office/powerpoint/2010/main" val="1677835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CD01D-8A51-471F-B97C-AAC6BF8A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AE63E-8D5E-42CD-9964-56C26DB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9937F-7233-4137-8226-402AB58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Alimentação na Serra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8CCAF-1CF0-4925-90E6-D37BAB9A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1050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1.530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4AFEF-E3C0-4ABC-B2C6-3104D781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estabelecimentos ativos</a:t>
            </a:r>
          </a:p>
          <a:p xmlns:a="http://schemas.openxmlformats.org/drawingml/2006/main">
            <a:pPr>
              <a:defRPr sz="2625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nos 9 municípios do APETÊ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9352B-83BC-4B03-B527-CA954A21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05050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380.563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DB525-E0A4-4E55-A7C8-FF1F7A83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habitantes</a:t>
            </a:r>
          </a:p>
          <a:p xmlns:a="http://schemas.openxmlformats.org/drawingml/2006/main">
            <a:pPr>
              <a:defRPr sz="210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estimativa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6095F-4D53-4D5A-8C4B-65C16003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RFB / Sebrae, base até ago. 2026. Soma municipal, CNAE 56.</a:t>
            </a:r>
          </a:p>
          <a:p xmlns:a="http://schemas.openxmlformats.org/drawingml/2006/main">
            <a:pPr>
              <a:defRPr sz="1500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População: IBGE, via IPECE. Informais não entram na contagem.</a:t>
            </a:r>
          </a:p>
        </p:txBody>
      </p:sp>
    </p:spTree>
    <p:extLst>
      <p:ext uri="{BB962C8B-B14F-4D97-AF65-F5344CB8AC3E}">
        <p14:creationId xmlns:p14="http://schemas.microsoft.com/office/powerpoint/2010/main" val="1581400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65EAB-8089-4238-9115-5B52FC49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69CE1-8393-419A-AE35-0F7ED059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fdf619abd4ceb"/>
          <a:srcRect xmlns:a="http://schemas.openxmlformats.org/drawingml/2006/main" l="7176" t="0" r="71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935C4-A328-434E-BF98-9FBA487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00150"/>
            <a:ext cx="5667375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Quem vende por</a:t>
            </a:r>
          </a:p>
          <a:p xmlns:a="http://schemas.openxmlformats.org/drawingml/2006/main">
            <a:pPr>
              <a:defRPr sz="37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conta própria</a:t>
            </a:r>
          </a:p>
          <a:p xmlns:a="http://schemas.openxmlformats.org/drawingml/2006/main">
            <a:pPr>
              <a:defRPr sz="37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também precisa</a:t>
            </a:r>
          </a:p>
          <a:p xmlns:a="http://schemas.openxmlformats.org/drawingml/2006/main">
            <a:pPr>
              <a:defRPr sz="37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aparecer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4F5EF-474A-4FCF-8A33-4F94D3E5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24350"/>
            <a:ext cx="5667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Bolos, doces, salgados</a:t>
            </a:r>
          </a:p>
          <a:p xmlns:a="http://schemas.openxmlformats.org/drawingml/2006/main">
            <a:pPr>
              <a:defRPr sz="225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e marmitas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6DD65-8EB9-4EC5-A7AB-13CAEA4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72125"/>
            <a:ext cx="5667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De casa ou em pequenos</a:t>
            </a:r>
          </a:p>
          <a:p xmlns:a="http://schemas.openxmlformats.org/drawingml/2006/main">
            <a:pPr>
              <a:defRPr sz="1950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pontos de venda</a:t>
            </a:r>
          </a:p>
        </p:txBody>
      </p:sp>
    </p:spTree>
    <p:extLst>
      <p:ext uri="{BB962C8B-B14F-4D97-AF65-F5344CB8AC3E}">
        <p14:creationId xmlns:p14="http://schemas.microsoft.com/office/powerpoint/2010/main" val="1015210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701DC-53ED-4C3C-96D8-F0887C89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C9C5D-C46A-4B56-8A27-E82479F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3D2DE-F042-49A3-8F7D-38F79B49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Comércio local em um só lugar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38848-0808-4032-810D-91DC030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Busca</a:t>
            </a:r>
          </a:p>
          <a:p xmlns:a="http://schemas.openxmlformats.org/drawingml/2006/main">
            <a:pPr>
              <a:defRPr sz="31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por cidade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7ECF5-A99E-4141-A3A1-06DD9F3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Restaurantes,</a:t>
            </a:r>
          </a:p>
          <a:p xmlns:a="http://schemas.openxmlformats.org/drawingml/2006/main">
            <a:pPr>
              <a:defRPr sz="210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pequenos negócios</a:t>
            </a:r>
          </a:p>
          <a:p xmlns:a="http://schemas.openxmlformats.org/drawingml/2006/main">
            <a:pPr>
              <a:defRPr sz="210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e produtores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fd41c7215459e"/>
          <a:stretch xmlns:a="http://schemas.openxmlformats.org/drawingml/2006/main"/>
        </p:blipFill>
        <p:spPr>
          <a:xfrm xmlns:a="http://schemas.openxmlformats.org/drawingml/2006/main">
            <a:off x="3905250" y="2067377"/>
            <a:ext cx="7715250" cy="43424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8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63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D33BE-545C-42FD-82BD-F5717639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AC35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881AC-3081-4C28-B23E-DAC0D562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7A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C7A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7D128-2E03-4F6E-B9B0-DFD6F141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AC35D"/>
                </a:solidFill>
                <a:latin typeface="Arial"/>
                <a:ea typeface="Arial"/>
                <a:cs typeface="Arial"/>
              </a:rPr>
              <a:t>Sabiá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561CD-5934-4711-A0FE-947A81E7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“Tenho R$ 40.</a:t>
            </a:r>
          </a:p>
          <a:p xmlns:a="http://schemas.openxmlformats.org/drawingml/2006/main">
            <a:pPr>
              <a:defRPr sz="3975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O que posso</a:t>
            </a:r>
          </a:p>
          <a:p xmlns:a="http://schemas.openxmlformats.org/drawingml/2006/main">
            <a:pPr>
              <a:defRPr sz="3975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pedir?”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D0DF3-2BB5-464F-AE44-DBD69543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AC7A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7AF"/>
                </a:solidFill>
                <a:latin typeface="Arial"/>
                <a:ea typeface="Arial"/>
                <a:cs typeface="Arial"/>
              </a:rPr>
              <a:t>Sugestões do catálogo</a:t>
            </a:r>
          </a:p>
          <a:p xmlns:a="http://schemas.openxmlformats.org/drawingml/2006/main">
            <a:pPr>
              <a:defRPr sz="2100" b="0">
                <a:solidFill>
                  <a:srgbClr val="BAC7A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7AF"/>
                </a:solidFill>
                <a:latin typeface="Arial"/>
                <a:ea typeface="Arial"/>
                <a:cs typeface="Arial"/>
              </a:rPr>
              <a:t>para sua cidade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007f4b18a4e09"/>
          <a:stretch xmlns:a="http://schemas.openxmlformats.org/drawingml/2006/main"/>
        </p:blipFill>
        <p:spPr>
          <a:xfrm xmlns:a="http://schemas.openxmlformats.org/drawingml/2006/main">
            <a:off x="5650869" y="1876425"/>
            <a:ext cx="5967086" cy="3924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54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0859A-0078-43B1-AEA3-2A910003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EF35C-AEC9-4478-A80D-A872548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99d32830a4753"/>
          <a:srcRect xmlns:a="http://schemas.openxmlformats.org/drawingml/2006/main" l="8179" t="0" r="8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4985B-E222-4453-A8A9-7C1280E3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6143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Última</a:t>
            </a:r>
          </a:p>
          <a:p xmlns:a="http://schemas.openxmlformats.org/drawingml/2006/main">
            <a:pPr>
              <a:defRPr sz="49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Fornada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3681D-F648-45E9-AEF7-3D22000B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0925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Ofertas com desconto</a:t>
            </a:r>
          </a:p>
          <a:p xmlns:a="http://schemas.openxmlformats.org/drawingml/2006/main">
            <a:pPr>
              <a:defRPr sz="2925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antes do prazo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E2D80-CD26-4BE2-B4D4-716FC21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600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Uma proposta para</a:t>
            </a:r>
          </a:p>
          <a:p xmlns:a="http://schemas.openxmlformats.org/drawingml/2006/main">
            <a:pPr>
              <a:defRPr sz="202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aproveitar mais e desperdiçar menos</a:t>
            </a:r>
          </a:p>
        </p:txBody>
      </p:sp>
    </p:spTree>
    <p:extLst>
      <p:ext uri="{BB962C8B-B14F-4D97-AF65-F5344CB8AC3E}">
        <p14:creationId xmlns:p14="http://schemas.microsoft.com/office/powerpoint/2010/main" val="1417868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A6D0E-BA34-46AF-8528-E594EA1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EC482-CA66-45B6-8D5D-BF2542A8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FC160-7B2E-4054-BCB6-F468A16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O que muda na busca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27FCC-ADAB-45FD-8F7C-A93DAAF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8C1FF-3219-42CD-A4F0-AF9F2F4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Contatos e cardápios</a:t>
            </a:r>
          </a:p>
          <a:p xmlns:a="http://schemas.openxmlformats.org/drawingml/2006/main">
            <a:pPr>
              <a:defRPr sz="2850" b="0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63E2D"/>
                </a:solidFill>
                <a:latin typeface="Arial"/>
                <a:ea typeface="Arial"/>
                <a:cs typeface="Arial"/>
              </a:rPr>
              <a:t>em lugares separados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6BD09-19E1-41F1-9791-9C46BF30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657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6573E"/>
                </a:solidFill>
                <a:latin typeface="Arial"/>
                <a:ea typeface="Arial"/>
                <a:cs typeface="Arial"/>
              </a:rPr>
              <a:t>Com o APETÊ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64DE0-2501-417A-BF97-70483F6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Busca por cidade</a:t>
            </a:r>
          </a:p>
          <a:p xmlns:a="http://schemas.openxmlformats.org/drawingml/2006/main">
            <a:pPr>
              <a:defRPr sz="28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e ajuda para escolher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D27E1-2D9D-4D39-8C3F-A1A8B17C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E2D"/>
                </a:solidFill>
                <a:latin typeface="Arial"/>
                <a:ea typeface="Arial"/>
                <a:cs typeface="Arial"/>
              </a:rPr>
              <a:t>30 lojas e 153 produtos demonstrativos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78DE7-92F7-4CB6-A684-5778880D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2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25C"/>
                </a:solidFill>
                <a:latin typeface="Arial"/>
                <a:ea typeface="Arial"/>
                <a:cs typeface="Arial"/>
              </a:rPr>
              <a:t>Próximo passo: testar com moradores e comerciantes</a:t>
            </a:r>
          </a:p>
        </p:txBody>
      </p:sp>
    </p:spTree>
    <p:extLst>
      <p:ext uri="{BB962C8B-B14F-4D97-AF65-F5344CB8AC3E}">
        <p14:creationId xmlns:p14="http://schemas.microsoft.com/office/powerpoint/2010/main" val="859215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63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9D4DC-015D-4023-ACE5-20715FBD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AC35D"/>
                </a:solidFill>
                <a:latin typeface="Arial"/>
                <a:ea typeface="Arial"/>
                <a:cs typeface="Arial"/>
              </a:rPr>
              <a:t>APETÊ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6AD78-7D88-4081-954A-5E890725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7A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C7A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5A24C-F78A-4DED-A4E4-518BC29D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Da Serra</a:t>
            </a:r>
          </a:p>
          <a:p xmlns:a="http://schemas.openxmlformats.org/drawingml/2006/main">
            <a:pPr>
              <a:defRPr sz="5700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pra sua mesa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F4567-7289-47E3-82B7-98591D4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714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AC35D"/>
                </a:solidFill>
                <a:latin typeface="Arial"/>
                <a:ea typeface="Arial"/>
                <a:cs typeface="Arial"/>
              </a:rPr>
              <a:t>Mais visibilidade para quem vende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8FC41-3E4A-41E1-A3A2-99F903CD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8F7E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7EF"/>
                </a:solidFill>
                <a:latin typeface="Arial"/>
                <a:ea typeface="Arial"/>
                <a:cs typeface="Arial"/>
              </a:rPr>
              <a:t>Paulo Henrique e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43BCD-F5E7-4383-9EDC-36A2EE2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704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C7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AC7AF"/>
                </a:solidFill>
                <a:latin typeface="Arial"/>
                <a:ea typeface="Arial"/>
                <a:cs typeface="Arial"/>
              </a:rPr>
              <a:t>EEEP Deputado José Maria Melo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ee311aa464cc1"/>
          <a:stretch xmlns:a="http://schemas.openxmlformats.org/drawingml/2006/main"/>
        </p:blipFill>
        <p:spPr>
          <a:xfrm xmlns:a="http://schemas.openxmlformats.org/drawingml/2006/main">
            <a:off x="8315325" y="1419225"/>
            <a:ext cx="3209925" cy="32099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F8B7D-74C0-4D94-BE53-951495CB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720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AC3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C35D"/>
                </a:solidFill>
                <a:latin typeface="Arial"/>
                <a:ea typeface="Arial"/>
                <a:cs typeface="Arial"/>
              </a:rPr>
              <a:t>Conheça o protótipo</a:t>
            </a:r>
          </a:p>
        </p:txBody>
      </p:sp>
    </p:spTree>
    <p:extLst>
      <p:ext uri="{BB962C8B-B14F-4D97-AF65-F5344CB8AC3E}">
        <p14:creationId xmlns:p14="http://schemas.microsoft.com/office/powerpoint/2010/main" val="212827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2026-10-03T17:26:49.5460000Z</dcterms:created>
  <dcterms:modified xsi:type="dcterms:W3CDTF">2026-10-03T17:26:49.5460000Z</dcterms:modified>
</coreProperties>
</file>