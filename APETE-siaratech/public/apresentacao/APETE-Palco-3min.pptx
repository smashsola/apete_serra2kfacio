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66c6ef64aa40f6" /><Relationship Type="http://schemas.openxmlformats.org/officeDocument/2006/relationships/extended-properties" Target="/docProps/app.xml" Id="R68365b6f0cea4bdf" /><Relationship Type="http://schemas.openxmlformats.org/officeDocument/2006/relationships/officeDocument" Target="/ppt/presentation.xml" Id="R3e77eb621a1f46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e40c88acbd4c89"/>
  </p:sldMasterIdLst>
  <p:notesMasterIdLst>
    <p:notesMasterId xmlns:r="http://schemas.openxmlformats.org/officeDocument/2006/relationships" r:id="R515c9635e78f46f1"/>
  </p:notesMasterIdLst>
  <p:sldIdLst>
    <p:sldId xmlns:r="http://schemas.openxmlformats.org/officeDocument/2006/relationships" id="256" r:id="R120de6e55fe84977"/>
    <p:sldId xmlns:r="http://schemas.openxmlformats.org/officeDocument/2006/relationships" id="257" r:id="Rbd9466eea6be47fa"/>
    <p:sldId xmlns:r="http://schemas.openxmlformats.org/officeDocument/2006/relationships" id="258" r:id="Rf5fdb78998de4a95"/>
    <p:sldId xmlns:r="http://schemas.openxmlformats.org/officeDocument/2006/relationships" id="259" r:id="R6bb0f90c01d14293"/>
    <p:sldId xmlns:r="http://schemas.openxmlformats.org/officeDocument/2006/relationships" id="260" r:id="Ra1329d501fd245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8c2bd0dec643ad" /><Relationship Type="http://schemas.openxmlformats.org/officeDocument/2006/relationships/slideMaster" Target="/ppt/slideMasters/slideMaster1.xml" Id="Rebe40c88acbd4c89" /><Relationship Type="http://schemas.openxmlformats.org/officeDocument/2006/relationships/notesMaster" Target="/ppt/notesMasters/notesMaster1.xml" Id="R515c9635e78f46f1" /><Relationship Type="http://schemas.openxmlformats.org/officeDocument/2006/relationships/presProps" Target="/ppt/presProps.xml" Id="R9a93895f96d6431e" /><Relationship Type="http://schemas.openxmlformats.org/officeDocument/2006/relationships/tableStyles" Target="/ppt/tableStyles.xml" Id="R944f67d2d8194837" /><Relationship Type="http://schemas.openxmlformats.org/officeDocument/2006/relationships/slide" Target="/ppt/slides/slide1.xml" Id="R120de6e55fe84977" /><Relationship Type="http://schemas.openxmlformats.org/officeDocument/2006/relationships/slide" Target="/ppt/slides/slide2.xml" Id="Rbd9466eea6be47fa" /><Relationship Type="http://schemas.openxmlformats.org/officeDocument/2006/relationships/slide" Target="/ppt/slides/slide3.xml" Id="Rf5fdb78998de4a95" /><Relationship Type="http://schemas.openxmlformats.org/officeDocument/2006/relationships/slide" Target="/ppt/slides/slide4.xml" Id="R6bb0f90c01d14293" /><Relationship Type="http://schemas.openxmlformats.org/officeDocument/2006/relationships/slide" Target="/ppt/slides/slide5.xml" Id="Ra1329d501fd245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da4eb14b4304d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e38b1a988744f5" /><Relationship Type="http://schemas.openxmlformats.org/officeDocument/2006/relationships/notesMaster" Target="/ppt/notesMasters/notesMaster1.xml" Id="R079a6e0dc95b4b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284e53630b4561" /><Relationship Type="http://schemas.openxmlformats.org/officeDocument/2006/relationships/notesMaster" Target="/ppt/notesMasters/notesMaster1.xml" Id="R5ad49b670c914f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9d72d82b9543d2" /><Relationship Type="http://schemas.openxmlformats.org/officeDocument/2006/relationships/notesMaster" Target="/ppt/notesMasters/notesMaster1.xml" Id="R36d7b63cdb2245b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1dbf00abc54912" /><Relationship Type="http://schemas.openxmlformats.org/officeDocument/2006/relationships/notesMaster" Target="/ppt/notesMasters/notesMaster1.xml" Id="Rf76b6e47707341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fd3a180d4e4d4f" /><Relationship Type="http://schemas.openxmlformats.org/officeDocument/2006/relationships/notesMaster" Target="/ppt/notesMasters/notesMaster1.xml" Id="R3cf11dcdfb1b47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s — Paulo. Gancho e problema. Os números mostram a dimensão da região, não comprovam dificuldade de compra nem adesão ao APETÊ. Conte uma observação real sobre a dificuldade de descobrir restaurantes, pequenos comércios e produtores. População: estimativa IBGE 2024; comércio: estabelecimentos formais RAIS/MTE 2023, não apenas alimentação. Fonte: IPECE, Panorama Serra da Ibiapaba nº 07, julho de 2025, páginas 9, 12 e 24. https://www.ipece.ce.gov.br/wp-content/uploads/sites/45/2025/07/Panorama_Socioeconomico_das_Regioes_de_Planejamento_do_Ceara_Serra_da_Ibiapaba_N07_2025.pdf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60 s — Max. Explique a busca por cidade, os perfis, produtos e pedidos. Compare com opções dispersas em WhatsApp, Instagram e indicação pessoal; não diga que nenhum concorrente atende toda a região sem verificar. Mostre a captura do protótipo. Os 30 estabelecimentos e 153 produtos são dados de demonstração, não parceiros ou vendas reais. Captura do site em 03/10/2026: https://apete-serra2kfacio.betaniaaa.workers.dev/#cardapio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40 s — Paulo. Prova e diferença. A Sabiá foi testada em 03/10/2026 com o pedido “Quero um almoço até R$ 40” e retornou sugestões do catálogo de Ipu. Valores totais são iniciais; frete final depende da distância confirmada com a loja. Última Fornada filtra ofertas por prazo e estoque: neste teste não havia ofertas válidas na região. Explique a função sem afirmar redução de desperdício já medida. Ainda falta validar utilidade, adesão e resultados com moradores e comerciantes. Fonte do protótipo: https://apete-serra2kfacio.betaniaaa.workers.dev/#sabia e #fornada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s — Max. Impacto desejado e equipe. Pequenos comércios incluem restaurantes de bairro, padarias e vendedores locais com pouca divulgação; produtores incluem quem oferece alimentos e produtos da região. Queremos facilitar a descoberta e ampliar visibilidade, mas ainda não medimos aumento de renda nem redução de desperdício. Apresente os dois integrantes e a escola; diga a relação de vocês com o problema sem inventar experiência profissional.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s — Paulo e Max. Feche com a frase da marca e convide a conhecer o protótipo pelo QR. O QR aponta para https://apete-serra2kfacio.betaniaaa.workers.dev/ . Treinem as trocas em pé com cronômetro pelo menos três vezes. Tempo total planejado: 180 s. Esta apresentação tem pouco texto; use as notas só no ensaio, não leia o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b9955b364d4e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3df86d58b14e5a" /><Relationship Type="http://schemas.openxmlformats.org/officeDocument/2006/relationships/slideLayout" Target="/ppt/slideLayouts/slideLayout1.xml" Id="R44feb0500abd4e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feb0500abd4e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ca7ea1bce402d" /><Relationship Type="http://schemas.openxmlformats.org/officeDocument/2006/relationships/notesSlide" Target="/ppt/notesSlides/notesSlide1.xml" Id="R3d7f4a7cc9114e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2a26ddb9de41f8" /><Relationship Type="http://schemas.openxmlformats.org/officeDocument/2006/relationships/image" Target="/ppt/media/image.jpeg" Id="Rde5df08fdef94bc0" /><Relationship Type="http://schemas.openxmlformats.org/officeDocument/2006/relationships/notesSlide" Target="/ppt/notesSlides/notesSlide2.xml" Id="R1ce101d1c6f641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d0da9514c4681" /><Relationship Type="http://schemas.openxmlformats.org/officeDocument/2006/relationships/image" Target="/ppt/media/image.png" Id="R3decb3418ef44e93" /><Relationship Type="http://schemas.openxmlformats.org/officeDocument/2006/relationships/notesSlide" Target="/ppt/notesSlides/notesSlide3.xml" Id="R51ad468815c146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ea2017dbd4c42" /><Relationship Type="http://schemas.openxmlformats.org/officeDocument/2006/relationships/notesSlide" Target="/ppt/notesSlides/notesSlide4.xml" Id="R5b780ca565984c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4af89176b4148" /><Relationship Type="http://schemas.openxmlformats.org/officeDocument/2006/relationships/image" Target="/ppt/media/image2.png" Id="Rc33959acb86c4221" /><Relationship Type="http://schemas.openxmlformats.org/officeDocument/2006/relationships/notesSlide" Target="/ppt/notesSlides/notesSlide5.xml" Id="Rb78fc9e7b6a1485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B2006-F38D-4156-AA73-0D829D3F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APETÊ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0236F-3698-4BFB-9D3A-6942B617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F5DC5-5DB7-47C3-876A-567C1ABC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Como encontrar quem vende</a:t>
            </a:r>
          </a:p>
          <a:p xmlns:a="http://schemas.openxmlformats.org/drawingml/2006/main">
            <a:pPr>
              <a:defRPr sz="4350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na nossa Serra?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E94F2C-F8A6-487D-BE24-B80F3C3B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380.563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077CB-3055-4879-8D36-B88B7D76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D2C"/>
                </a:solidFill>
                <a:latin typeface="Arial"/>
                <a:ea typeface="Arial"/>
                <a:cs typeface="Arial"/>
              </a:rPr>
              <a:t>habitantes · estimativa 2024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6DDD6-385E-4762-B370-6BBD38CE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3850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1.608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7557E-7C50-4680-B776-DADEC314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362450"/>
            <a:ext cx="3905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D2C"/>
                </a:solidFill>
                <a:latin typeface="Arial"/>
                <a:ea typeface="Arial"/>
                <a:cs typeface="Arial"/>
              </a:rPr>
              <a:t>comércios formais · 2023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45E1FA-241F-4E1E-B18F-5CDC7C13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38500"/>
            <a:ext cx="1714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DBE8D-E0A6-4DD5-9B32-4CF24B93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6245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D2C"/>
                </a:solidFill>
                <a:latin typeface="Arial"/>
                <a:ea typeface="Arial"/>
                <a:cs typeface="Arial"/>
              </a:rPr>
              <a:t>municípios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A6E832-4E24-4417-9E08-7AFA323F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IBGE e RAIS/MTE, via IPECE (2025). Comércio abrange vários setores.</a:t>
            </a:r>
          </a:p>
        </p:txBody>
      </p:sp>
    </p:spTree>
    <p:extLst>
      <p:ext uri="{BB962C8B-B14F-4D97-AF65-F5344CB8AC3E}">
        <p14:creationId xmlns:p14="http://schemas.microsoft.com/office/powerpoint/2010/main" val="339139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E7A25-1F8F-451B-A1B1-9A994750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APETÊ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8D4717-F106-4A2D-8046-2DB483B8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4E431B-B5A7-478D-9B55-130049E0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Comércio local</a:t>
            </a:r>
          </a:p>
          <a:p xmlns:a="http://schemas.openxmlformats.org/drawingml/2006/main">
            <a:pPr>
              <a:defRPr sz="4275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em um só lugar.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ADB0D-0BB9-4514-A4A4-34E94899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476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63D2C"/>
                </a:solidFill>
                <a:latin typeface="Arial"/>
                <a:ea typeface="Arial"/>
                <a:cs typeface="Arial"/>
              </a:rPr>
              <a:t>Restaurantes</a:t>
            </a:r>
          </a:p>
          <a:p xmlns:a="http://schemas.openxmlformats.org/drawingml/2006/main">
            <a:pPr>
              <a:defRPr sz="2550" b="0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63D2C"/>
                </a:solidFill>
                <a:latin typeface="Arial"/>
                <a:ea typeface="Arial"/>
                <a:cs typeface="Arial"/>
              </a:rPr>
              <a:t>Padarias</a:t>
            </a:r>
          </a:p>
          <a:p xmlns:a="http://schemas.openxmlformats.org/drawingml/2006/main">
            <a:pPr>
              <a:defRPr sz="2550" b="0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63D2C"/>
                </a:solidFill>
                <a:latin typeface="Arial"/>
                <a:ea typeface="Arial"/>
                <a:cs typeface="Arial"/>
              </a:rPr>
              <a:t>Produtores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5df08fdef94bc0"/>
          <a:stretch xmlns:a="http://schemas.openxmlformats.org/drawingml/2006/main"/>
        </p:blipFill>
        <p:spPr>
          <a:xfrm xmlns:a="http://schemas.openxmlformats.org/drawingml/2006/main">
            <a:off x="6038850" y="1697468"/>
            <a:ext cx="5543550" cy="312016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AD80F-60D5-4383-9B8E-AE287EA0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30 lojas · 153 produtos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09A16-C492-4CD5-981F-05FFADD1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Catálogo demonstrativo. Lojas e produtos fictícios.</a:t>
            </a:r>
          </a:p>
        </p:txBody>
      </p:sp>
    </p:spTree>
    <p:extLst>
      <p:ext uri="{BB962C8B-B14F-4D97-AF65-F5344CB8AC3E}">
        <p14:creationId xmlns:p14="http://schemas.microsoft.com/office/powerpoint/2010/main" val="15651387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63E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6D69EA-6919-457C-A0D0-52666A04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AC3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AC35D"/>
                </a:solidFill>
                <a:latin typeface="Arial"/>
                <a:ea typeface="Arial"/>
                <a:cs typeface="Arial"/>
              </a:rPr>
              <a:t>APETÊ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72420-EB41-4A0C-BB6C-79BC07EF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7A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AC7A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F1B20-F671-4F4B-ACE4-B503A81D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76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3F2D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F3F2DF"/>
                </a:solidFill>
                <a:latin typeface="Arial"/>
                <a:ea typeface="Arial"/>
                <a:cs typeface="Arial"/>
              </a:rPr>
              <a:t>Ajuda para escolher.</a:t>
            </a:r>
          </a:p>
          <a:p xmlns:a="http://schemas.openxmlformats.org/drawingml/2006/main">
            <a:pPr>
              <a:defRPr sz="3825" b="1">
                <a:solidFill>
                  <a:srgbClr val="F3F2D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F3F2DF"/>
                </a:solidFill>
                <a:latin typeface="Arial"/>
                <a:ea typeface="Arial"/>
                <a:cs typeface="Arial"/>
              </a:rPr>
              <a:t>Uma chance de aproveitar.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F0E6C-84C1-4A7F-8355-2C385D4D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EAC35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AC35D"/>
                </a:solidFill>
                <a:latin typeface="Arial"/>
                <a:ea typeface="Arial"/>
                <a:cs typeface="Arial"/>
              </a:rPr>
              <a:t>Sabiá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DFE198-D14E-4D17-998C-70E25FB2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3F2D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3F2DF"/>
                </a:solidFill>
                <a:latin typeface="Arial"/>
                <a:ea typeface="Arial"/>
                <a:cs typeface="Arial"/>
              </a:rPr>
              <a:t>Sugestões pelo orçamento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CAA373-8739-43C4-A16E-6F946DEC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EAC35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AC35D"/>
                </a:solidFill>
                <a:latin typeface="Arial"/>
                <a:ea typeface="Arial"/>
                <a:cs typeface="Arial"/>
              </a:rPr>
              <a:t>Última Fornada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83E6A-6306-48EE-9DE4-7317CE1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953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3F2D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3F2DF"/>
                </a:solidFill>
                <a:latin typeface="Arial"/>
                <a:ea typeface="Arial"/>
                <a:cs typeface="Arial"/>
              </a:rPr>
              <a:t>Ofertas com prazo e desconto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ecb3418ef44e93"/>
          <a:stretch xmlns:a="http://schemas.openxmlformats.org/drawingml/2006/main"/>
        </p:blipFill>
        <p:spPr>
          <a:xfrm xmlns:a="http://schemas.openxmlformats.org/drawingml/2006/main">
            <a:off x="6397277" y="2552700"/>
            <a:ext cx="4750496" cy="3124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A680C-4E06-4723-BCF0-2BC6538B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7A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AC7AF"/>
                </a:solidFill>
                <a:latin typeface="Arial"/>
                <a:ea typeface="Arial"/>
                <a:cs typeface="Arial"/>
              </a:rPr>
              <a:t>Protótipo funcionando · validação com o público ainda pendente</a:t>
            </a:r>
          </a:p>
        </p:txBody>
      </p:sp>
    </p:spTree>
    <p:extLst>
      <p:ext uri="{BB962C8B-B14F-4D97-AF65-F5344CB8AC3E}">
        <p14:creationId xmlns:p14="http://schemas.microsoft.com/office/powerpoint/2010/main" val="11126095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73524-1BDC-4D36-A2AE-559DD43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6573E"/>
                </a:solidFill>
                <a:latin typeface="Arial"/>
                <a:ea typeface="Arial"/>
                <a:cs typeface="Arial"/>
              </a:rPr>
              <a:t>APETÊ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61D893-0C4C-4AF8-AC4D-07A10E42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04066-A8EF-45B0-A92E-3653E907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Nosso 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BA905-2227-46AC-90EB-4C26570A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53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Mais visibilidade</a:t>
            </a:r>
          </a:p>
          <a:p xmlns:a="http://schemas.openxmlformats.org/drawingml/2006/main">
            <a:pPr>
              <a:defRPr sz="4650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para quem vende.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69260-85E3-4D63-963A-9379E52D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36573E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36573E"/>
                </a:solidFill>
                <a:latin typeface="Arial"/>
                <a:ea typeface="Arial"/>
                <a:cs typeface="Arial"/>
              </a:rPr>
              <a:t>Pequenos comércios e produtores locais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251EA-D8F3-49EF-918B-ACB1128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263D2C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63D2C"/>
                </a:solidFill>
                <a:latin typeface="Arial"/>
                <a:ea typeface="Arial"/>
                <a:cs typeface="Arial"/>
              </a:rPr>
              <a:t>Paulo Henrique e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BA324-F797-4352-930F-4D40925B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4725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4725C"/>
                </a:solidFill>
                <a:latin typeface="Arial"/>
                <a:ea typeface="Arial"/>
                <a:cs typeface="Arial"/>
              </a:rPr>
              <a:t>EEEP Deputado José Maria Melo</a:t>
            </a:r>
          </a:p>
        </p:txBody>
      </p:sp>
    </p:spTree>
    <p:extLst>
      <p:ext uri="{BB962C8B-B14F-4D97-AF65-F5344CB8AC3E}">
        <p14:creationId xmlns:p14="http://schemas.microsoft.com/office/powerpoint/2010/main" val="21201996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63E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F2239-8C89-46A3-9C97-BB726895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AC3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AC35D"/>
                </a:solidFill>
                <a:latin typeface="Arial"/>
                <a:ea typeface="Arial"/>
                <a:cs typeface="Arial"/>
              </a:rPr>
              <a:t>APETÊ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45DB4-A93B-401B-8F3D-59053BCC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4800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7A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AC7A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36A443-8B70-4583-8302-E1105E25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3F2D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3F2DF"/>
                </a:solidFill>
                <a:latin typeface="Arial"/>
                <a:ea typeface="Arial"/>
                <a:cs typeface="Arial"/>
              </a:rPr>
              <a:t>Da Serra</a:t>
            </a:r>
          </a:p>
          <a:p xmlns:a="http://schemas.openxmlformats.org/drawingml/2006/main">
            <a:pPr>
              <a:defRPr sz="5700" b="1">
                <a:solidFill>
                  <a:srgbClr val="F3F2D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3F2DF"/>
                </a:solidFill>
                <a:latin typeface="Arial"/>
                <a:ea typeface="Arial"/>
                <a:cs typeface="Arial"/>
              </a:rPr>
              <a:t>pra sua mesa.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9C2C6-0B6D-49F6-95C4-820F7B12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EAC35D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AC35D"/>
                </a:solidFill>
                <a:latin typeface="Arial"/>
                <a:ea typeface="Arial"/>
                <a:cs typeface="Arial"/>
              </a:rPr>
              <a:t>Conheça o APETÊ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3C67B-8D9C-479E-94ED-B6113CA1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AC7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AC7AF"/>
                </a:solidFill>
                <a:latin typeface="Arial"/>
                <a:ea typeface="Arial"/>
                <a:cs typeface="Arial"/>
              </a:rPr>
              <a:t>Escaneie e explore o protótipo.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959acb86c4221"/>
          <a:stretch xmlns:a="http://schemas.openxmlformats.org/drawingml/2006/main"/>
        </p:blipFill>
        <p:spPr>
          <a:xfrm xmlns:a="http://schemas.openxmlformats.org/drawingml/2006/main">
            <a:off x="8134350" y="1524000"/>
            <a:ext cx="3448050" cy="3448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DA136-2A2D-41C5-93AE-DB07A126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7A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AC7AF"/>
                </a:solidFill>
                <a:latin typeface="Arial"/>
                <a:ea typeface="Arial"/>
                <a:cs typeface="Arial"/>
              </a:rPr>
              <a:t>apete-serra2kfacio.betaniaaa.workers.dev</a:t>
            </a:r>
          </a:p>
        </p:txBody>
      </p:sp>
    </p:spTree>
    <p:extLst>
      <p:ext uri="{BB962C8B-B14F-4D97-AF65-F5344CB8AC3E}">
        <p14:creationId xmlns:p14="http://schemas.microsoft.com/office/powerpoint/2010/main" val="5013568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2026-10-03T17:11:18.9490000Z</dcterms:created>
  <dcterms:modified xsi:type="dcterms:W3CDTF">2026-10-03T17:11:18.9490000Z</dcterms:modified>
</coreProperties>
</file>